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12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11582400" y="6233133"/>
            <a:ext cx="624800" cy="624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5"/>
          <p:cNvSpPr/>
          <p:nvPr/>
        </p:nvSpPr>
        <p:spPr>
          <a:xfrm rot="5400000">
            <a:off x="-133800" y="598367"/>
            <a:ext cx="624800" cy="357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609600" y="464567"/>
            <a:ext cx="11163300" cy="421258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609600" y="1089368"/>
            <a:ext cx="11163300" cy="538763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Pts val="1800"/>
              <a:buChar char="▸"/>
              <a:defRPr sz="1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1219170" lvl="1" indent="-457189">
              <a:spcBef>
                <a:spcPts val="800"/>
              </a:spcBef>
              <a:spcAft>
                <a:spcPts val="0"/>
              </a:spcAft>
              <a:buClr>
                <a:schemeClr val="bg2">
                  <a:lumMod val="20000"/>
                  <a:lumOff val="80000"/>
                </a:schemeClr>
              </a:buClr>
              <a:buSzPts val="1800"/>
              <a:buChar char="▹"/>
              <a:defRPr sz="16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 marL="1828754" lvl="2" indent="-457189">
              <a:spcBef>
                <a:spcPts val="800"/>
              </a:spcBef>
              <a:spcAft>
                <a:spcPts val="0"/>
              </a:spcAft>
              <a:buClr>
                <a:schemeClr val="tx2">
                  <a:lumMod val="90000"/>
                </a:schemeClr>
              </a:buClr>
              <a:buSzPts val="1800"/>
              <a:buChar char="▹"/>
              <a:defRPr sz="14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 marL="2438339" lvl="3" indent="-474121">
              <a:spcBef>
                <a:spcPts val="800"/>
              </a:spcBef>
              <a:spcAft>
                <a:spcPts val="0"/>
              </a:spcAft>
              <a:buClr>
                <a:schemeClr val="tx2">
                  <a:lumMod val="90000"/>
                </a:schemeClr>
              </a:buClr>
              <a:buSzPts val="2000"/>
              <a:buChar char="▹"/>
              <a:defRPr sz="12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 marL="3047924" lvl="4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5pPr>
            <a:lvl6pPr marL="3657509" lvl="5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6pPr>
            <a:lvl7pPr marL="4267093" lvl="6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7pPr>
            <a:lvl8pPr marL="4876678" lvl="7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8pPr>
            <a:lvl9pPr marL="5486263" lvl="8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532033" y="6182333"/>
            <a:ext cx="609200" cy="62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14D7F6AC-1EEB-4ABB-AD80-109EC6FDCCF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80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100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uiExpand="1" build="p">
        <p:tmplLst>
          <p:tmpl lvl="1">
            <p:tnLst>
              <p:par>
                <p:cTn presetID="3" presetClass="emph" presetSubtype="2" fill="hold" nodeType="clickEffect">
                  <p:stCondLst>
                    <p:cond delay="0"/>
                  </p:stCondLst>
                  <p:childTnLst>
                    <p:animClr clrSpc="rgb" dir="cw">
                      <p:cBhvr override="childStyle">
                        <p:cTn dur="1000" fill="hold"/>
                        <p:tgtEl>
                          <p:spTgt spid="26"/>
                        </p:tgtEl>
                        <p:attrNameLst>
                          <p:attrName>style.color</p:attrName>
                        </p:attrNameLst>
                      </p:cBhvr>
                      <p:to>
                        <a:srgbClr val="0000FF"/>
                      </p:to>
                    </p:animClr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26"/>
                        </p:tgtEl>
                        <p:attrNameLst>
                          <p:attrName>ppt_c</p:attrName>
                        </p:attrNameLst>
                      </p:cBhvr>
                      <p:to>
                        <a:srgbClr val="C0C0C0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3" presetClass="emph" presetSubtype="2" fill="hold" nodeType="clickEffect">
                  <p:stCondLst>
                    <p:cond delay="0"/>
                  </p:stCondLst>
                  <p:childTnLst>
                    <p:animClr clrSpc="rgb" dir="cw">
                      <p:cBhvr override="childStyle">
                        <p:cTn dur="1000" fill="hold"/>
                        <p:tgtEl>
                          <p:spTgt spid="26"/>
                        </p:tgtEl>
                        <p:attrNameLst>
                          <p:attrName>style.color</p:attrName>
                        </p:attrNameLst>
                      </p:cBhvr>
                      <p:to>
                        <a:srgbClr val="0000FF"/>
                      </p:to>
                    </p:animClr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26"/>
                        </p:tgtEl>
                        <p:attrNameLst>
                          <p:attrName>ppt_c</p:attrName>
                        </p:attrNameLst>
                      </p:cBhvr>
                      <p:to>
                        <a:srgbClr val="C0C0C0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3" presetClass="emph" presetSubtype="2" fill="hold" nodeType="clickEffect">
                  <p:stCondLst>
                    <p:cond delay="0"/>
                  </p:stCondLst>
                  <p:childTnLst>
                    <p:animClr clrSpc="rgb" dir="cw">
                      <p:cBhvr override="childStyle">
                        <p:cTn dur="1000" fill="hold"/>
                        <p:tgtEl>
                          <p:spTgt spid="26"/>
                        </p:tgtEl>
                        <p:attrNameLst>
                          <p:attrName>style.color</p:attrName>
                        </p:attrNameLst>
                      </p:cBhvr>
                      <p:to>
                        <a:srgbClr val="0000FF"/>
                      </p:to>
                    </p:animClr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26"/>
                        </p:tgtEl>
                        <p:attrNameLst>
                          <p:attrName>ppt_c</p:attrName>
                        </p:attrNameLst>
                      </p:cBhvr>
                      <p:to>
                        <a:srgbClr val="C0C0C0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3" presetClass="emph" presetSubtype="2" fill="hold" nodeType="clickEffect">
                  <p:stCondLst>
                    <p:cond delay="0"/>
                  </p:stCondLst>
                  <p:childTnLst>
                    <p:animClr clrSpc="rgb" dir="cw">
                      <p:cBhvr override="childStyle">
                        <p:cTn dur="1000" fill="hold"/>
                        <p:tgtEl>
                          <p:spTgt spid="26"/>
                        </p:tgtEl>
                        <p:attrNameLst>
                          <p:attrName>style.color</p:attrName>
                        </p:attrNameLst>
                      </p:cBhvr>
                      <p:to>
                        <a:srgbClr val="0000FF"/>
                      </p:to>
                    </p:animClr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26"/>
                        </p:tgtEl>
                        <p:attrNameLst>
                          <p:attrName>ppt_c</p:attrName>
                        </p:attrNameLst>
                      </p:cBhvr>
                      <p:to>
                        <a:srgbClr val="C0C0C0"/>
                      </p:to>
                    </p:animClr>
                  </p:sub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807467"/>
            <a:ext cx="7521200" cy="14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E12C27-DB2B-AA97-3BBD-0CF8EAE7B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9C93A-B808-4F92-9D9D-4CEB4D584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15519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200" b="0" i="0" u="none" strike="noStrike" cap="none">
          <a:solidFill>
            <a:srgbClr val="0000FF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14300" marR="0" lvl="0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BEE87-A1C0-7047-E363-2B7F0EAC6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3608" y="4879511"/>
            <a:ext cx="5069421" cy="990006"/>
          </a:xfrm>
        </p:spPr>
        <p:txBody>
          <a:bodyPr/>
          <a:lstStyle/>
          <a:p>
            <a:r>
              <a:rPr lang="en-GB" noProof="0" dirty="0"/>
              <a:t>Looking at the same example</a:t>
            </a:r>
          </a:p>
          <a:p>
            <a:r>
              <a:rPr lang="en-GB" noProof="0" dirty="0"/>
              <a:t>Still uses a promise but async await syntax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61A22-46F7-C48E-F6EC-142D095066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D7F6AC-1EEB-4ABB-AD80-109EC6FDCCF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3521A8-6BCF-F6A0-9FCA-EB3B38413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980" y="342044"/>
            <a:ext cx="5144218" cy="61349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B9CDB9-5DCC-B9A9-E493-961E05F12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44" y="381000"/>
            <a:ext cx="2476846" cy="80973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4D11859-BB32-6B6B-10C7-B69EE7FA6F9E}"/>
              </a:ext>
            </a:extLst>
          </p:cNvPr>
          <p:cNvCxnSpPr>
            <a:cxnSpLocks/>
          </p:cNvCxnSpPr>
          <p:nvPr/>
        </p:nvCxnSpPr>
        <p:spPr>
          <a:xfrm flipH="1">
            <a:off x="7622561" y="2166897"/>
            <a:ext cx="353466" cy="3995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2A07564-D7D5-C090-A9E5-54E2D36369E4}"/>
              </a:ext>
            </a:extLst>
          </p:cNvPr>
          <p:cNvGrpSpPr/>
          <p:nvPr/>
        </p:nvGrpSpPr>
        <p:grpSpPr>
          <a:xfrm>
            <a:off x="3219610" y="653143"/>
            <a:ext cx="5666224" cy="2912249"/>
            <a:chOff x="3219610" y="653143"/>
            <a:chExt cx="5666224" cy="2912249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B010158-AC29-FEF9-CAE0-5AFAEBCCE6B5}"/>
                </a:ext>
              </a:extLst>
            </p:cNvPr>
            <p:cNvCxnSpPr/>
            <p:nvPr/>
          </p:nvCxnSpPr>
          <p:spPr>
            <a:xfrm>
              <a:off x="3219610" y="653143"/>
              <a:ext cx="3373291" cy="291224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A547010-0264-19ED-0E77-D8A250FE35D1}"/>
                </a:ext>
              </a:extLst>
            </p:cNvPr>
            <p:cNvSpPr txBox="1"/>
            <p:nvPr/>
          </p:nvSpPr>
          <p:spPr>
            <a:xfrm>
              <a:off x="6520489" y="3236212"/>
              <a:ext cx="2365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Needs to be async to use await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70580FB-DC4F-F65E-F9DF-8377F3B512C5}"/>
              </a:ext>
            </a:extLst>
          </p:cNvPr>
          <p:cNvGrpSpPr/>
          <p:nvPr/>
        </p:nvGrpSpPr>
        <p:grpSpPr>
          <a:xfrm>
            <a:off x="6831106" y="653143"/>
            <a:ext cx="3542339" cy="3400438"/>
            <a:chOff x="6831106" y="653143"/>
            <a:chExt cx="3542339" cy="3400438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DA59B5A-95A0-EE13-B9F3-9B3168CD67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31106" y="653143"/>
              <a:ext cx="3542339" cy="34004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E2B0AFF-ED46-9120-F7FE-89A5B01B9AD2}"/>
                </a:ext>
              </a:extLst>
            </p:cNvPr>
            <p:cNvSpPr txBox="1"/>
            <p:nvPr/>
          </p:nvSpPr>
          <p:spPr>
            <a:xfrm rot="2668934">
              <a:off x="8457300" y="2702191"/>
              <a:ext cx="15219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Call function returning promise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C42548E-11CB-2DC1-EE21-1027AF7E9F07}"/>
              </a:ext>
            </a:extLst>
          </p:cNvPr>
          <p:cNvGrpSpPr/>
          <p:nvPr/>
        </p:nvGrpSpPr>
        <p:grpSpPr>
          <a:xfrm>
            <a:off x="8052867" y="539607"/>
            <a:ext cx="3604331" cy="520790"/>
            <a:chOff x="8052867" y="539607"/>
            <a:chExt cx="3604331" cy="52079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52D0683-700D-00E6-2111-416BE867E1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2867" y="653143"/>
              <a:ext cx="906716" cy="40725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3F55D11-87E2-5496-831F-48369F95A737}"/>
                </a:ext>
              </a:extLst>
            </p:cNvPr>
            <p:cNvSpPr txBox="1"/>
            <p:nvPr/>
          </p:nvSpPr>
          <p:spPr>
            <a:xfrm>
              <a:off x="8911560" y="539607"/>
              <a:ext cx="27456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Immediate execution of the callback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2581EFD7-1AF4-0E0B-98BE-2B60FAE73D93}"/>
              </a:ext>
            </a:extLst>
          </p:cNvPr>
          <p:cNvSpPr txBox="1"/>
          <p:nvPr/>
        </p:nvSpPr>
        <p:spPr>
          <a:xfrm>
            <a:off x="9196450" y="989205"/>
            <a:ext cx="2460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 timer callback - not executed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BA934BF-82BA-7853-5F46-D868158BF0D9}"/>
              </a:ext>
            </a:extLst>
          </p:cNvPr>
          <p:cNvGrpSpPr/>
          <p:nvPr/>
        </p:nvGrpSpPr>
        <p:grpSpPr>
          <a:xfrm>
            <a:off x="7891503" y="2619287"/>
            <a:ext cx="1068080" cy="1671572"/>
            <a:chOff x="7891503" y="2619287"/>
            <a:chExt cx="1068080" cy="167157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F40BBC3-D272-74CD-F1FF-57567F2C04AC}"/>
                </a:ext>
              </a:extLst>
            </p:cNvPr>
            <p:cNvCxnSpPr>
              <a:cxnSpLocks/>
            </p:cNvCxnSpPr>
            <p:nvPr/>
          </p:nvCxnSpPr>
          <p:spPr>
            <a:xfrm>
              <a:off x="7891503" y="2773936"/>
              <a:ext cx="1068080" cy="127964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D1DD0F4-71A1-6F7D-08D9-1506664B5BCE}"/>
                </a:ext>
              </a:extLst>
            </p:cNvPr>
            <p:cNvSpPr txBox="1"/>
            <p:nvPr/>
          </p:nvSpPr>
          <p:spPr>
            <a:xfrm rot="2943440">
              <a:off x="7792508" y="3316573"/>
              <a:ext cx="16715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Return pending - wait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B4CA710-B8AF-D117-4537-873A84BA9C31}"/>
              </a:ext>
            </a:extLst>
          </p:cNvPr>
          <p:cNvGrpSpPr/>
          <p:nvPr/>
        </p:nvGrpSpPr>
        <p:grpSpPr>
          <a:xfrm>
            <a:off x="2889197" y="1160290"/>
            <a:ext cx="4172088" cy="3065928"/>
            <a:chOff x="2889197" y="1160290"/>
            <a:chExt cx="4172088" cy="3065928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087BC5F-F025-AC87-F7D7-C2082522EAA2}"/>
                </a:ext>
              </a:extLst>
            </p:cNvPr>
            <p:cNvCxnSpPr>
              <a:cxnSpLocks/>
            </p:cNvCxnSpPr>
            <p:nvPr/>
          </p:nvCxnSpPr>
          <p:spPr>
            <a:xfrm>
              <a:off x="2889197" y="1160290"/>
              <a:ext cx="4172088" cy="306592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416AA6B-5E73-D707-306B-1190F73E8485}"/>
                </a:ext>
              </a:extLst>
            </p:cNvPr>
            <p:cNvSpPr txBox="1"/>
            <p:nvPr/>
          </p:nvSpPr>
          <p:spPr>
            <a:xfrm rot="2153052">
              <a:off x="2906728" y="2374920"/>
              <a:ext cx="39705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A3F5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When promise resolved, continue with suspended code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C930531-C6E9-1B37-F27C-7396EEE30E9F}"/>
              </a:ext>
            </a:extLst>
          </p:cNvPr>
          <p:cNvGrpSpPr/>
          <p:nvPr/>
        </p:nvGrpSpPr>
        <p:grpSpPr>
          <a:xfrm>
            <a:off x="8513603" y="4226218"/>
            <a:ext cx="2374672" cy="353816"/>
            <a:chOff x="8513603" y="4226218"/>
            <a:chExt cx="2374672" cy="353816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2D07615-637E-B91D-7A9D-4241AC51C1CA}"/>
                </a:ext>
              </a:extLst>
            </p:cNvPr>
            <p:cNvCxnSpPr>
              <a:cxnSpLocks/>
            </p:cNvCxnSpPr>
            <p:nvPr/>
          </p:nvCxnSpPr>
          <p:spPr>
            <a:xfrm>
              <a:off x="8513603" y="4226218"/>
              <a:ext cx="445980" cy="16084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6F576E8-EA33-4E6A-4F80-5A7F0E44A18F}"/>
                </a:ext>
              </a:extLst>
            </p:cNvPr>
            <p:cNvSpPr txBox="1"/>
            <p:nvPr/>
          </p:nvSpPr>
          <p:spPr>
            <a:xfrm>
              <a:off x="9998131" y="4303035"/>
              <a:ext cx="8901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Resolved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5748474-375D-308C-CCE8-32AC64142444}"/>
              </a:ext>
            </a:extLst>
          </p:cNvPr>
          <p:cNvGrpSpPr/>
          <p:nvPr/>
        </p:nvGrpSpPr>
        <p:grpSpPr>
          <a:xfrm>
            <a:off x="8052867" y="4234231"/>
            <a:ext cx="1539888" cy="675309"/>
            <a:chOff x="8052867" y="4234231"/>
            <a:chExt cx="1539888" cy="675309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ACFEFA0D-60E7-0CC9-B7BC-645318677B04}"/>
                </a:ext>
              </a:extLst>
            </p:cNvPr>
            <p:cNvCxnSpPr>
              <a:cxnSpLocks/>
            </p:cNvCxnSpPr>
            <p:nvPr/>
          </p:nvCxnSpPr>
          <p:spPr>
            <a:xfrm>
              <a:off x="8052867" y="4234231"/>
              <a:ext cx="0" cy="4146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BDACF54-A862-ADEB-226F-AF0A04DFCE54}"/>
                </a:ext>
              </a:extLst>
            </p:cNvPr>
            <p:cNvSpPr txBox="1"/>
            <p:nvPr/>
          </p:nvSpPr>
          <p:spPr>
            <a:xfrm>
              <a:off x="8702611" y="4632541"/>
              <a:ext cx="8901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Rejected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7A88538A-7857-8918-92A4-588F54FD81F8}"/>
              </a:ext>
            </a:extLst>
          </p:cNvPr>
          <p:cNvSpPr txBox="1"/>
          <p:nvPr/>
        </p:nvSpPr>
        <p:spPr>
          <a:xfrm>
            <a:off x="8885834" y="5333598"/>
            <a:ext cx="1803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 this regardless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5139B58-3AD3-2B7E-AA14-8D023F6EEFA2}"/>
              </a:ext>
            </a:extLst>
          </p:cNvPr>
          <p:cNvGrpSpPr/>
          <p:nvPr/>
        </p:nvGrpSpPr>
        <p:grpSpPr>
          <a:xfrm>
            <a:off x="3103908" y="1160290"/>
            <a:ext cx="6706249" cy="2957131"/>
            <a:chOff x="3103908" y="1160290"/>
            <a:chExt cx="6706249" cy="2957131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8AD86F2-023B-4C1B-D777-AC97BD532F72}"/>
                </a:ext>
              </a:extLst>
            </p:cNvPr>
            <p:cNvGrpSpPr/>
            <p:nvPr/>
          </p:nvGrpSpPr>
          <p:grpSpPr>
            <a:xfrm>
              <a:off x="3103908" y="1160290"/>
              <a:ext cx="5781926" cy="2893291"/>
              <a:chOff x="3103908" y="1160290"/>
              <a:chExt cx="5781926" cy="2893291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E429F065-7339-699D-3F4B-D715B082DD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103908" y="1160290"/>
                <a:ext cx="5781926" cy="2893291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8CD818C-82DE-98C8-2A7F-9040063E5164}"/>
                  </a:ext>
                </a:extLst>
              </p:cNvPr>
              <p:cNvSpPr txBox="1"/>
              <p:nvPr/>
            </p:nvSpPr>
            <p:spPr>
              <a:xfrm rot="1626359">
                <a:off x="3841123" y="1923148"/>
                <a:ext cx="25831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A3F5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Continue with main whilst waiting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40BB34B-D219-8071-B1A5-ED6BD684A56D}"/>
                </a:ext>
              </a:extLst>
            </p:cNvPr>
            <p:cNvSpPr txBox="1"/>
            <p:nvPr/>
          </p:nvSpPr>
          <p:spPr>
            <a:xfrm>
              <a:off x="8920013" y="3840422"/>
              <a:ext cx="8901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Pending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C43E2D82-E7B7-13FB-9D21-A55FB457266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994090" y="2339987"/>
            <a:ext cx="2959996" cy="20436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3816F3-5843-066E-3152-75BF17AF4370}"/>
              </a:ext>
            </a:extLst>
          </p:cNvPr>
          <p:cNvSpPr txBox="1"/>
          <p:nvPr/>
        </p:nvSpPr>
        <p:spPr>
          <a:xfrm>
            <a:off x="8828842" y="6526062"/>
            <a:ext cx="21882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demos/async/asyncAwait1b.js</a:t>
            </a:r>
          </a:p>
        </p:txBody>
      </p:sp>
    </p:spTree>
    <p:extLst>
      <p:ext uri="{BB962C8B-B14F-4D97-AF65-F5344CB8AC3E}">
        <p14:creationId xmlns:p14="http://schemas.microsoft.com/office/powerpoint/2010/main" val="289690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49" grpId="1"/>
      <p:bldP spid="62" grpId="0"/>
    </p:bldLst>
  </p:timing>
</p:sld>
</file>

<file path=ppt/theme/theme1.xml><?xml version="1.0" encoding="utf-8"?>
<a:theme xmlns:a="http://schemas.openxmlformats.org/drawingml/2006/main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Raleway Thin</vt:lpstr>
      <vt:lpstr>Gaoler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Antony John Nicol (School of Engineering and Computing)</dc:creator>
  <cp:lastModifiedBy>Antony John Nicol (School of Engineering and Computing)</cp:lastModifiedBy>
  <cp:revision>1</cp:revision>
  <dcterms:created xsi:type="dcterms:W3CDTF">2026-10-10T14:40:35Z</dcterms:created>
  <dcterms:modified xsi:type="dcterms:W3CDTF">2026-10-10T14:41:29Z</dcterms:modified>
</cp:coreProperties>
</file>